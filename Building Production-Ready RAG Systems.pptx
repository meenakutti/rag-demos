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BD25B-6FCF-7C6C-8EFE-DB183C26B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C92E0B-425E-8FDC-7265-7B6E7260A4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5634B-2B38-4256-BC1B-28C4B05D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E2958-4BAB-7716-3443-07978982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519B7-5F62-70BA-AAA9-E0587EF7F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3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32B81-998E-F616-EEC1-BEA3661AB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C4C2F-EA54-FB43-24DD-B5D96E168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DB3A4-F5FF-584F-128B-27DF7BC4A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9D3B6-6A79-F18B-DA77-1CA9B69C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27335-C5D2-B709-211D-F29F74B3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31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74D0-3939-7186-32FE-1A6161EB6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8D863-9884-B48D-978D-CAA8FC2CC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4795F-A1B3-DF22-7022-B7CB2C272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AC14F-DC5C-F34E-6B4F-744DF9FA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0477D-A11D-384D-76D0-DB09D1843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38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3FC4B-B01D-F85E-BA00-AC4DE2DBB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F4667-5D75-7BAB-B2A9-FBFFE905A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F0303-AD5E-0660-FC75-1305B10CF6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3FDEC-7D3E-922C-BCA1-07A82007E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61D2E-2A14-7825-201E-AE36F46F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F5400-BDBB-6A7A-4ADE-1EEDAE31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30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F6449-36B7-4BDC-31FE-EE0BCE8D2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EADCD-ED72-1F2D-07DE-E7904129E4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276D7-7C1B-0631-5A7B-FEEC4D6A2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4660E-8CB5-BA31-A884-C945B7497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AEEF9-E056-9133-0027-0170378E3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BC2DFD-16EB-4756-D64B-5635FABC4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072A7-51A3-3151-E815-CD8607A8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546DED-7A74-91F3-3845-857C226E7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7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78D1E-E202-CCD0-034D-53E87448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C6C8C-EA46-C80B-3C0C-3579A2C3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673A6-24BD-CCDA-26B7-29B5CF06A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4C3ED6-C91A-CC40-C52E-4C9BD12D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630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132341-D939-B112-2C8D-AD9E091F8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5F703-98ED-8F78-DA70-D4EFCEA3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CCAF2-B5E5-D41D-2815-E360D1CF3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35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44AA-C6E1-6B7C-8EF2-B3BD702CB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3215E-0401-DD31-4B95-67E2A52B1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0AB02-CAF9-AB57-C8D4-29B09598D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0292-8FCD-9FA0-AEB9-030699FFF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83DFD-040C-E7F2-7E3F-AB893CE1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ABDE57-DFEE-2FCB-5558-77E9AD851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4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EBC10-15F3-7EF3-552A-1E6340770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0D6AD0-BB45-5D30-9896-1D37B21E1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471D8-27BC-05C5-4E11-34B6A7D95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A4999-A810-6997-9F3F-10AC2CDE1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65B7D-460C-57E1-F0DF-4449B25F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B5E2D-FB9E-4BEF-F97F-1827AA51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31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3C76-E15C-1EBA-E30B-CB0F2940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810A00-BFEF-DD8A-49EE-C4757A05F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3D7A-90DA-AF38-ACCE-276924DBD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70496-A9C3-6634-35D1-722C3EF5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4A773-D7E1-9DD8-03E3-8417D4712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66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F3C372-AED1-8F9A-8B2A-E9E2F4802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5C527-D26D-F9EA-41A1-5AE13D4DE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17CA3-B555-F163-72AA-0C8945893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50A2D-3310-5EA5-D16D-543A11A5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F71D5-FED8-60FF-38FA-F714186AF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17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A86A9-C9B6-55F1-EABC-C7908D212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7F35B-2626-7B56-B470-D39FFE457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72E6-2AD2-D67C-CF35-9E92556E3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8676D-D564-4868-93CB-2D1008D23CE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08251-FF55-2C6C-0998-856156A8C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F9B28-5A03-F170-B09B-18F4D62822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48EFF-88AF-4649-B5FC-E1D43D1F3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9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2CBF-2A39-4AC2-3EAF-D3BC89BD6F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Building Production-Ready RAG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2C56F-F5B7-8F3B-7FCD-A2CF60FF0E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From Hallucinating AI to Trusted Answers</a:t>
            </a:r>
          </a:p>
        </p:txBody>
      </p:sp>
    </p:spTree>
    <p:extLst>
      <p:ext uri="{BB962C8B-B14F-4D97-AF65-F5344CB8AC3E}">
        <p14:creationId xmlns:p14="http://schemas.microsoft.com/office/powerpoint/2010/main" val="3059148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40E37-221B-2699-236F-93AF0CDB3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LLMs Alone Aren't Enough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58A68-F49F-09B9-5456-BFA975D3B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LLMs are trained on old data (cutoff dates)</a:t>
            </a:r>
          </a:p>
          <a:p>
            <a:r>
              <a:rPr lang="en-US" dirty="0"/>
              <a:t>They hallucinate confidently</a:t>
            </a:r>
          </a:p>
          <a:p>
            <a:r>
              <a:rPr lang="en-US" dirty="0"/>
              <a:t>No access to your private/proprietary data</a:t>
            </a:r>
          </a:p>
          <a:p>
            <a:r>
              <a:rPr lang="en-US" dirty="0"/>
              <a:t>Can't cite sources or verify claims</a:t>
            </a:r>
          </a:p>
          <a:p>
            <a:r>
              <a:rPr lang="en-US" dirty="0"/>
              <a:t>Expensive to fine-tune for every update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Real Example:</a:t>
            </a:r>
            <a:endParaRPr lang="en-US" dirty="0"/>
          </a:p>
          <a:p>
            <a:r>
              <a:rPr lang="en-US" dirty="0"/>
              <a:t>User: "What's in ticket TICK-001?"</a:t>
            </a:r>
          </a:p>
          <a:p>
            <a:r>
              <a:rPr lang="en-US" dirty="0"/>
              <a:t>Pure LLM: "I don't have access to your ticket system..."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954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A2A63-E3A1-131E-1A7F-B81CE359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Retrieval-Augmented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D047E-13CC-CABE-FAC2-79677D980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Concept:</a:t>
            </a:r>
            <a:endParaRPr lang="en-US" dirty="0"/>
          </a:p>
          <a:p>
            <a:r>
              <a:rPr lang="en-US" dirty="0"/>
              <a:t>Store your documents in a searchable database</a:t>
            </a:r>
          </a:p>
          <a:p>
            <a:r>
              <a:rPr lang="en-US" dirty="0"/>
              <a:t>When user asks a question, find relevant documents</a:t>
            </a:r>
          </a:p>
          <a:p>
            <a:r>
              <a:rPr lang="en-US" dirty="0"/>
              <a:t>Give those documents to the LLM as context</a:t>
            </a:r>
          </a:p>
          <a:p>
            <a:r>
              <a:rPr lang="en-US" dirty="0"/>
              <a:t>LLM generates answer based on real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Magic:</a:t>
            </a:r>
            <a:r>
              <a:rPr lang="en-US" dirty="0"/>
              <a:t> Best of both worlds</a:t>
            </a:r>
          </a:p>
          <a:p>
            <a:r>
              <a:rPr lang="en-US" dirty="0"/>
              <a:t>LLM's language understanding + Your actual 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86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F027A-815C-CAF0-CB80-E8A6EC13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RAG Works (3 Steps)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4065A-AA9B-D5E0-2CA4-37D14A703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Step 1: OFFLINE - Index Your Data</a:t>
            </a:r>
            <a:endParaRPr lang="en-US" dirty="0"/>
          </a:p>
          <a:p>
            <a:r>
              <a:rPr lang="en-US" dirty="0"/>
              <a:t>Documents → Chunks → Embeddings → Vector Store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2: ONLINE - Retrieve Relevant Context</a:t>
            </a:r>
            <a:endParaRPr lang="en-US" dirty="0"/>
          </a:p>
          <a:p>
            <a:r>
              <a:rPr lang="en-US" dirty="0"/>
              <a:t>User Query → Find Similar Documents → Top-K Results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Step 3: ONLINE - Generate Grounded Answer</a:t>
            </a:r>
            <a:endParaRPr lang="en-US" dirty="0"/>
          </a:p>
          <a:p>
            <a:r>
              <a:rPr lang="en-US" dirty="0"/>
              <a:t>Query + Retrieved Docs → LLM → Answer with Citations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245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34F85-64A9-0CAF-E074-5B4ABFD87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We're Building Today: </a:t>
            </a:r>
            <a:r>
              <a:rPr lang="en-US" dirty="0" err="1"/>
              <a:t>SupportDesk</a:t>
            </a:r>
            <a:r>
              <a:rPr lang="en-US" dirty="0"/>
              <a:t> RAG Assistant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BB2B8-312B-1EF2-5A21-1722E9904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Use Case:</a:t>
            </a:r>
            <a:r>
              <a:rPr lang="en-US" dirty="0"/>
              <a:t> Technical support ticket search and troubleshooting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Dataset:</a:t>
            </a:r>
            <a:r>
              <a:rPr lang="en-US" dirty="0"/>
              <a:t> 20 real support tickets (authentication, database, payments, mobile, etc.)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 Ask questions → Get answers with ticket citations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Query: "How to fix authentication failures?"</a:t>
            </a:r>
          </a:p>
          <a:p>
            <a:r>
              <a:rPr lang="en-US" dirty="0"/>
              <a:t>Answer: "Clear active sessions (TICK-001) and update SAML to SHA-256 (TICK-011)"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956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64605-D331-6D59-C26F-4826287D1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Structure: 5 Modules in 4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CA3B8-3384-8142-90CF-2334C5354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832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b="1" dirty="0"/>
              <a:t>Module 1:</a:t>
            </a:r>
            <a:r>
              <a:rPr lang="en-US" sz="4800" dirty="0"/>
              <a:t> Embeddings (30 min)</a:t>
            </a:r>
          </a:p>
          <a:p>
            <a:r>
              <a:rPr lang="en-US" sz="4800" dirty="0"/>
              <a:t>Convert text to vectors, semantic similarity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Module 2:</a:t>
            </a:r>
            <a:r>
              <a:rPr lang="en-US" sz="4800" dirty="0"/>
              <a:t> Chunking &amp; Vector Stores (30 min)</a:t>
            </a:r>
          </a:p>
          <a:p>
            <a:r>
              <a:rPr lang="en-US" sz="4800" dirty="0"/>
              <a:t>Split documents, build searchable indexes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dirty="0"/>
              <a:t>-- Break(15 mins)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Module 3:</a:t>
            </a:r>
            <a:r>
              <a:rPr lang="en-US" sz="4800" dirty="0"/>
              <a:t> Indexing Strategies (45 min)</a:t>
            </a:r>
          </a:p>
          <a:p>
            <a:r>
              <a:rPr lang="en-US" sz="4800" dirty="0"/>
              <a:t>Vector, Tree, Keyword, Hybrid retrieval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Module 4:</a:t>
            </a:r>
            <a:r>
              <a:rPr lang="en-US" sz="4800" dirty="0"/>
              <a:t> RAG Pipeline (45 min)</a:t>
            </a:r>
          </a:p>
          <a:p>
            <a:r>
              <a:rPr lang="en-US" sz="4800" dirty="0"/>
              <a:t>Complete system with </a:t>
            </a:r>
            <a:r>
              <a:rPr lang="en-US" sz="4800" dirty="0" err="1"/>
              <a:t>LangChain</a:t>
            </a:r>
            <a:r>
              <a:rPr lang="en-US" sz="4800" dirty="0"/>
              <a:t> LCEL</a:t>
            </a:r>
          </a:p>
          <a:p>
            <a:endParaRPr lang="en-US" sz="4800" dirty="0"/>
          </a:p>
          <a:p>
            <a:pPr marL="0" indent="0">
              <a:buNone/>
            </a:pPr>
            <a:r>
              <a:rPr lang="en-US" sz="4800" dirty="0"/>
              <a:t>-- Break(15 mins)</a:t>
            </a:r>
          </a:p>
          <a:p>
            <a:pPr marL="0" indent="0">
              <a:buNone/>
            </a:pP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Module 5:</a:t>
            </a:r>
            <a:r>
              <a:rPr lang="en-US" sz="4800" dirty="0"/>
              <a:t> Evaluation (45 min)</a:t>
            </a:r>
          </a:p>
          <a:p>
            <a:r>
              <a:rPr lang="en-US" sz="4800" dirty="0"/>
              <a:t>Measure quality, prevent hallucinations</a:t>
            </a:r>
          </a:p>
          <a:p>
            <a:endParaRPr lang="en-US" sz="4800" dirty="0"/>
          </a:p>
          <a:p>
            <a:pPr marL="0" indent="0">
              <a:buNone/>
            </a:pPr>
            <a:r>
              <a:rPr lang="en-US" sz="4800" dirty="0"/>
              <a:t>-- Q and A (15 mins)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563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E59A-A02B-52EF-D1BB-A5E107925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 – Embeddings: Understanding Text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8AFCC-1424-2089-09DC-1FEDAFFE6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What are embeddings?</a:t>
            </a:r>
            <a:endParaRPr lang="en-US" dirty="0"/>
          </a:p>
          <a:p>
            <a:r>
              <a:rPr lang="en-US" dirty="0"/>
              <a:t>Convert text → array of 1536 numbers</a:t>
            </a:r>
          </a:p>
          <a:p>
            <a:r>
              <a:rPr lang="en-US" dirty="0"/>
              <a:t>Similar meanings → similar vectors</a:t>
            </a:r>
          </a:p>
          <a:p>
            <a:r>
              <a:rPr lang="en-US" dirty="0"/>
              <a:t>"login error" and "authentication failure" are close in vector space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Key Operations:</a:t>
            </a:r>
            <a:endParaRPr lang="en-US" dirty="0"/>
          </a:p>
          <a:p>
            <a:r>
              <a:rPr lang="en-US" dirty="0"/>
              <a:t>Generate embeddings with OpenAI API</a:t>
            </a:r>
          </a:p>
          <a:p>
            <a:r>
              <a:rPr lang="en-US" dirty="0"/>
              <a:t>Calculate cosine similarity</a:t>
            </a:r>
          </a:p>
          <a:p>
            <a:r>
              <a:rPr lang="en-US" dirty="0"/>
              <a:t>Find most similar documents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Output:</a:t>
            </a:r>
            <a:r>
              <a:rPr lang="en-US" dirty="0"/>
              <a:t> Semantic search that understands meaning, not just keywords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29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E79C-813F-C662-9408-B9ED4338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1 – Demo: Embeddings 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7F326-31A0-A058-F222-5F17ABB4C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Query:</a:t>
            </a:r>
            <a:r>
              <a:rPr lang="en-US" dirty="0"/>
              <a:t> "Users can't login after password reset“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Top Results (by similarity):</a:t>
            </a:r>
            <a:endParaRPr lang="en-US" dirty="0"/>
          </a:p>
          <a:p>
            <a:r>
              <a:rPr lang="en-US" dirty="0"/>
              <a:t>TICK-001: Authentication failures (0.92 similarity)</a:t>
            </a:r>
          </a:p>
          <a:p>
            <a:r>
              <a:rPr lang="en-US" dirty="0"/>
              <a:t>TICK-011: SSO broken after upgrade (0.87 similarity)</a:t>
            </a:r>
          </a:p>
          <a:p>
            <a:r>
              <a:rPr lang="en-US" dirty="0"/>
              <a:t>TICK-014: Session timeout issues (0.81 similarity)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 Insight:</a:t>
            </a:r>
            <a:r>
              <a:rPr lang="en-US" dirty="0"/>
              <a:t> Found relevant tickets even with different wording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4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6E54-C8A7-E9A2-FAA2-A825D7BF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 – Chunking: Breaking Down Long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F81C-A6B0-9B9B-DD68-4F02768A8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The Problem:</a:t>
            </a:r>
            <a:r>
              <a:rPr lang="en-US" dirty="0"/>
              <a:t> Documents are too long for LLMs (token limits)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Solution:</a:t>
            </a:r>
            <a:r>
              <a:rPr lang="en-US" dirty="0"/>
              <a:t> Split into smaller chunks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Chunking Strategies:</a:t>
            </a:r>
            <a:endParaRPr lang="en-US" dirty="0"/>
          </a:p>
          <a:p>
            <a:r>
              <a:rPr lang="en-US" dirty="0"/>
              <a:t>Fixed-size: Simple 500-character chunks</a:t>
            </a:r>
          </a:p>
          <a:p>
            <a:r>
              <a:rPr lang="en-US" dirty="0"/>
              <a:t>Recursive: Respect sentence/paragraph boundaries</a:t>
            </a:r>
          </a:p>
          <a:p>
            <a:r>
              <a:rPr lang="en-US" dirty="0"/>
              <a:t>Semantic: Split by topic changes</a:t>
            </a:r>
          </a:p>
          <a:p>
            <a:r>
              <a:rPr lang="en-US" dirty="0"/>
              <a:t>Structure-aware: Follow Markdown/HTML headers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Best Practice:</a:t>
            </a:r>
            <a:r>
              <a:rPr lang="en-US" dirty="0"/>
              <a:t> 200-500 tokens per chunk, 10-20% overlap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54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9BC0-12F5-B5A5-0882-B9FA0C76B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2 - Vector Stores: Storing and Searching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F3FAA-F7C7-FB62-8918-086474CC3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Vector Databases:</a:t>
            </a:r>
            <a:endParaRPr lang="en-US" dirty="0"/>
          </a:p>
          <a:p>
            <a:r>
              <a:rPr lang="en-US" dirty="0"/>
              <a:t>FAISS: Fast, local, Facebook's library</a:t>
            </a:r>
          </a:p>
          <a:p>
            <a:r>
              <a:rPr lang="en-US" dirty="0"/>
              <a:t>Chroma: Easy, persistent, good for prototypes</a:t>
            </a:r>
          </a:p>
          <a:p>
            <a:r>
              <a:rPr lang="en-US" dirty="0"/>
              <a:t>Pinecone: Cloud, production-scale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What they do:</a:t>
            </a:r>
            <a:endParaRPr lang="en-US" dirty="0"/>
          </a:p>
          <a:p>
            <a:r>
              <a:rPr lang="en-US" dirty="0"/>
              <a:t>Store millions of embeddings efficiently</a:t>
            </a:r>
          </a:p>
          <a:p>
            <a:r>
              <a:rPr lang="en-US" dirty="0"/>
              <a:t>Lightning-fast similarity search</a:t>
            </a:r>
          </a:p>
          <a:p>
            <a:r>
              <a:rPr lang="en-US" dirty="0"/>
              <a:t>Metadata filtering (category, date, priority)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Performance:</a:t>
            </a:r>
            <a:r>
              <a:rPr lang="en-US" dirty="0"/>
              <a:t> Search 100K documents in milliseconds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549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19F8-FEA2-7C8F-5122-1AA62A71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3 - Indexing Strategies: 5 Ways to Organize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98C54-1B0C-1303-3FFF-D80853DA0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1. Vector Index:</a:t>
            </a:r>
            <a:r>
              <a:rPr lang="en-US" dirty="0"/>
              <a:t> Semantic similarity (most common)</a:t>
            </a:r>
            <a:br>
              <a:rPr lang="en-US" dirty="0"/>
            </a:br>
            <a:r>
              <a:rPr lang="en-US" b="1" dirty="0"/>
              <a:t>2. Summary Index:</a:t>
            </a:r>
            <a:r>
              <a:rPr lang="en-US" dirty="0"/>
              <a:t> Search through document summaries</a:t>
            </a:r>
            <a:br>
              <a:rPr lang="en-US" dirty="0"/>
            </a:br>
            <a:r>
              <a:rPr lang="en-US" b="1" dirty="0"/>
              <a:t>3. Tree Index:</a:t>
            </a:r>
            <a:r>
              <a:rPr lang="en-US" dirty="0"/>
              <a:t> Hierarchical retrieval (summaries → details)</a:t>
            </a:r>
            <a:br>
              <a:rPr lang="en-US" dirty="0"/>
            </a:br>
            <a:r>
              <a:rPr lang="en-US" b="1" dirty="0"/>
              <a:t>4. Keyword Index:</a:t>
            </a:r>
            <a:r>
              <a:rPr lang="en-US" dirty="0"/>
              <a:t> Traditional exact matching</a:t>
            </a:r>
            <a:br>
              <a:rPr lang="en-US" dirty="0"/>
            </a:br>
            <a:r>
              <a:rPr lang="en-US" b="1" dirty="0"/>
              <a:t>5. Hybrid Retrieval:</a:t>
            </a:r>
            <a:r>
              <a:rPr lang="en-US" dirty="0"/>
              <a:t> Combine multiple strategies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Recommendation:</a:t>
            </a:r>
            <a:r>
              <a:rPr lang="en-US" dirty="0"/>
              <a:t> Start with Vector, add Keyword for production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696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327E-31E8-7C1E-7866-B79E7833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3 - Choosing the Right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3FBBE-B40F-4C47-DCED-811741304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Vector Index:</a:t>
            </a:r>
            <a:endParaRPr lang="en-US" dirty="0"/>
          </a:p>
          <a:p>
            <a:r>
              <a:rPr lang="en-US" dirty="0"/>
              <a:t>General semantic search</a:t>
            </a:r>
          </a:p>
          <a:p>
            <a:r>
              <a:rPr lang="en-US" dirty="0"/>
              <a:t>Works for 90% of use cases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Keyword Index:</a:t>
            </a:r>
            <a:endParaRPr lang="en-US" dirty="0"/>
          </a:p>
          <a:p>
            <a:r>
              <a:rPr lang="en-US" dirty="0"/>
              <a:t>Exact ticket IDs, codes, identifiers</a:t>
            </a:r>
          </a:p>
          <a:p>
            <a:r>
              <a:rPr lang="en-US" dirty="0"/>
              <a:t>Complement to semantic search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Tree Index:</a:t>
            </a:r>
            <a:endParaRPr lang="en-US" dirty="0"/>
          </a:p>
          <a:p>
            <a:r>
              <a:rPr lang="en-US" dirty="0"/>
              <a:t>Very large document collections (10K+)</a:t>
            </a:r>
          </a:p>
          <a:p>
            <a:r>
              <a:rPr lang="en-US" dirty="0"/>
              <a:t>Browse by topic hierarchy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Hybrid (Vector + Keyword):</a:t>
            </a:r>
            <a:endParaRPr lang="en-US" dirty="0"/>
          </a:p>
          <a:p>
            <a:r>
              <a:rPr lang="en-US" dirty="0"/>
              <a:t>Production systems</a:t>
            </a:r>
          </a:p>
          <a:p>
            <a:r>
              <a:rPr lang="en-US" dirty="0"/>
              <a:t>Best accuracy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823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4256-515D-A3A1-498A-7B205D04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4 - RAG Pipeline: Building the Complete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1E982-11CD-3C03-3F25-F9FB4437F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Components:</a:t>
            </a:r>
            <a:endParaRPr lang="en-US" dirty="0"/>
          </a:p>
          <a:p>
            <a:r>
              <a:rPr lang="en-US" dirty="0"/>
              <a:t>Retriever: Find relevant documents</a:t>
            </a:r>
          </a:p>
          <a:p>
            <a:r>
              <a:rPr lang="en-US" dirty="0"/>
              <a:t>Prompt Template: Inject context + rules</a:t>
            </a:r>
          </a:p>
          <a:p>
            <a:r>
              <a:rPr lang="en-US" dirty="0"/>
              <a:t>LLM: Generate answer</a:t>
            </a:r>
          </a:p>
          <a:p>
            <a:r>
              <a:rPr lang="en-US" dirty="0"/>
              <a:t>Output Parser: Format response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Modern Approach:</a:t>
            </a:r>
            <a:r>
              <a:rPr lang="en-US" dirty="0"/>
              <a:t> </a:t>
            </a:r>
            <a:r>
              <a:rPr lang="en-US" dirty="0" err="1"/>
              <a:t>LangChain</a:t>
            </a:r>
            <a:r>
              <a:rPr lang="en-US" dirty="0"/>
              <a:t> LCEL (Expression Language)</a:t>
            </a:r>
          </a:p>
          <a:p>
            <a:r>
              <a:rPr lang="en-US" dirty="0"/>
              <a:t>Chain components with | operator</a:t>
            </a:r>
          </a:p>
          <a:p>
            <a:r>
              <a:rPr lang="en-US" dirty="0"/>
              <a:t>Streaming support, async-ready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25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ACF50-29B0-F4D0-0D0C-8E947BBBC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4 - Preventing Hallucinations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1446A-1D59-AFCE-7C31-8DC3498C3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1. Strict Prompting:</a:t>
            </a:r>
            <a:br>
              <a:rPr lang="en-US" dirty="0"/>
            </a:br>
            <a:r>
              <a:rPr lang="en-US" dirty="0"/>
              <a:t>"Answer ONLY using the provided context. If answer not in context, say 'I don't have enough information.’”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2. Temperature=0:</a:t>
            </a:r>
            <a:br>
              <a:rPr lang="en-US" dirty="0"/>
            </a:br>
            <a:r>
              <a:rPr lang="en-US" dirty="0"/>
              <a:t>Deterministic, factual responses (no creativity)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3. Citation Requirements:</a:t>
            </a:r>
            <a:br>
              <a:rPr lang="en-US" dirty="0"/>
            </a:br>
            <a:r>
              <a:rPr lang="en-US" dirty="0"/>
              <a:t>Force LLM to cite ticket IDs for every claim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4. Confidence Thresholds:</a:t>
            </a:r>
            <a:br>
              <a:rPr lang="en-US" dirty="0"/>
            </a:br>
            <a:r>
              <a:rPr lang="en-US" dirty="0"/>
              <a:t>Reject low-similarity retrievals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5. Post-processing Validation:</a:t>
            </a:r>
            <a:br>
              <a:rPr lang="en-US" dirty="0"/>
            </a:br>
            <a:r>
              <a:rPr lang="en-US" dirty="0"/>
              <a:t>Check if answer is grounded in context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3590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02E10-5065-C192-7E2F-CB6888CE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4 - RAG Pipeline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F272B-A2F1-0514-4732-E9E46A085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Chain: </a:t>
            </a:r>
            <a:r>
              <a:rPr lang="en-US" dirty="0"/>
              <a:t>retriever | </a:t>
            </a:r>
            <a:r>
              <a:rPr lang="en-US" dirty="0" err="1"/>
              <a:t>format_docs</a:t>
            </a:r>
            <a:r>
              <a:rPr lang="en-US" dirty="0"/>
              <a:t> | prompt | </a:t>
            </a:r>
            <a:r>
              <a:rPr lang="en-US" dirty="0" err="1"/>
              <a:t>llm</a:t>
            </a:r>
            <a:r>
              <a:rPr lang="en-US" dirty="0"/>
              <a:t> | parser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happens:</a:t>
            </a:r>
            <a:endParaRPr lang="en-US" dirty="0"/>
          </a:p>
          <a:p>
            <a:r>
              <a:rPr lang="en-US" dirty="0"/>
              <a:t>Retriever fetches top-3 documents</a:t>
            </a:r>
          </a:p>
          <a:p>
            <a:r>
              <a:rPr lang="en-US" dirty="0" err="1"/>
              <a:t>format_docs</a:t>
            </a:r>
            <a:r>
              <a:rPr lang="en-US" dirty="0"/>
              <a:t> combines them into context string</a:t>
            </a:r>
          </a:p>
          <a:p>
            <a:r>
              <a:rPr lang="en-US" dirty="0"/>
              <a:t>Prompt injects context + question</a:t>
            </a:r>
          </a:p>
          <a:p>
            <a:r>
              <a:rPr lang="en-US" dirty="0"/>
              <a:t>LLM generates grounded answer</a:t>
            </a:r>
          </a:p>
          <a:p>
            <a:r>
              <a:rPr lang="en-US" dirty="0"/>
              <a:t>Parser extracts clean response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Result:</a:t>
            </a:r>
            <a:r>
              <a:rPr lang="en-US" dirty="0"/>
              <a:t> Query in → Answer with citations out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83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16663-38B3-9270-4A2A-7C22B021C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5 - Why Evaluation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9F4B0-42F5-BFC4-2A0B-3F9574B0F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"You Can't Improve What You Don't Measure“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Without Evaluation:</a:t>
            </a:r>
            <a:endParaRPr lang="en-US" dirty="0"/>
          </a:p>
          <a:p>
            <a:r>
              <a:rPr lang="en-US" dirty="0"/>
              <a:t>Guessing which approach is better</a:t>
            </a:r>
          </a:p>
          <a:p>
            <a:r>
              <a:rPr lang="en-US" dirty="0"/>
              <a:t>Deploying broken systems</a:t>
            </a:r>
          </a:p>
          <a:p>
            <a:r>
              <a:rPr lang="en-US" dirty="0"/>
              <a:t>No way to measure improvement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With Evaluation:</a:t>
            </a:r>
            <a:endParaRPr lang="en-US" dirty="0"/>
          </a:p>
          <a:p>
            <a:r>
              <a:rPr lang="en-US" dirty="0"/>
              <a:t>Data-driven decisions</a:t>
            </a:r>
          </a:p>
          <a:p>
            <a:r>
              <a:rPr lang="en-US" dirty="0"/>
              <a:t>Catch regressions early</a:t>
            </a:r>
          </a:p>
          <a:p>
            <a:r>
              <a:rPr lang="en-US" dirty="0"/>
              <a:t>Optimize systematically</a:t>
            </a:r>
          </a:p>
          <a:p>
            <a:r>
              <a:rPr lang="en-US" dirty="0"/>
              <a:t>Build confidence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Key Principle:</a:t>
            </a:r>
            <a:r>
              <a:rPr lang="en-US" dirty="0"/>
              <a:t> Always measure before optimizing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8732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9E10F-23C2-7CDF-752D-95F330068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5 - Two-Layer Evaluation: Evaluate Retrieval AND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9581C-C5AA-34B0-8597-6E48DB7DB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Layer 1: Retrieval Metrics</a:t>
            </a:r>
            <a:endParaRPr lang="en-US" dirty="0"/>
          </a:p>
          <a:p>
            <a:r>
              <a:rPr lang="en-US" dirty="0" err="1"/>
              <a:t>Precision@K</a:t>
            </a:r>
            <a:r>
              <a:rPr lang="en-US" dirty="0"/>
              <a:t>: How many retrieved docs are relevant?</a:t>
            </a:r>
          </a:p>
          <a:p>
            <a:r>
              <a:rPr lang="en-US" dirty="0" err="1"/>
              <a:t>Recall@K</a:t>
            </a:r>
            <a:r>
              <a:rPr lang="en-US" dirty="0"/>
              <a:t>: Did we find all relevant docs?</a:t>
            </a:r>
          </a:p>
          <a:p>
            <a:r>
              <a:rPr lang="en-US" dirty="0"/>
              <a:t>F1 Score: Balanced measure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Layer 2: Generation Metrics</a:t>
            </a:r>
            <a:endParaRPr lang="en-US" dirty="0"/>
          </a:p>
          <a:p>
            <a:r>
              <a:rPr lang="en-US" dirty="0" err="1"/>
              <a:t>Groundedness</a:t>
            </a:r>
            <a:r>
              <a:rPr lang="en-US" dirty="0"/>
              <a:t>: Is answer supported by context?</a:t>
            </a:r>
          </a:p>
          <a:p>
            <a:r>
              <a:rPr lang="en-US" dirty="0"/>
              <a:t>Completeness: Does answer fully address question?</a:t>
            </a:r>
          </a:p>
          <a:p>
            <a:pPr marL="0" indent="0">
              <a:buNone/>
            </a:pPr>
            <a:r>
              <a:rPr lang="en-US" b="1" dirty="0"/>
              <a:t>Why Both?</a:t>
            </a:r>
            <a:r>
              <a:rPr lang="en-US" dirty="0"/>
              <a:t> Problems can be in retrieval OR generation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027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D1FFA-E9CC-0E61-63B1-DBA8D57CE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5 - Target Metrics: Production-Ready 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7D328-6C90-2DB9-14F8-AF9364558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Retrieval Layer:</a:t>
            </a:r>
            <a:endParaRPr lang="en-US" dirty="0"/>
          </a:p>
          <a:p>
            <a:r>
              <a:rPr lang="en-US" dirty="0"/>
              <a:t>Precision@3: &gt; 80%</a:t>
            </a:r>
          </a:p>
          <a:p>
            <a:r>
              <a:rPr lang="en-US" dirty="0"/>
              <a:t>Recall@3: &gt; 70%</a:t>
            </a:r>
          </a:p>
          <a:p>
            <a:r>
              <a:rPr lang="en-US" dirty="0"/>
              <a:t>F1 Score: &gt; 75%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Generation Layer:</a:t>
            </a:r>
            <a:endParaRPr lang="en-US" dirty="0"/>
          </a:p>
          <a:p>
            <a:r>
              <a:rPr lang="en-US" dirty="0" err="1"/>
              <a:t>Groundedness</a:t>
            </a:r>
            <a:r>
              <a:rPr lang="en-US" dirty="0"/>
              <a:t>: &gt; 80% (minimize hallucinations)</a:t>
            </a:r>
          </a:p>
          <a:p>
            <a:r>
              <a:rPr lang="en-US" dirty="0"/>
              <a:t>Completeness: &gt; 75% (thorough answers)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Evaluation Method:</a:t>
            </a:r>
            <a:r>
              <a:rPr lang="en-US" dirty="0"/>
              <a:t> LLM-as-judge for generation quality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713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5E89-8C7C-E397-5E9D-E335CA7E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Learned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B2CC4-60AE-9AAC-E5D7-211AC2E44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5 Critical Insights:</a:t>
            </a:r>
            <a:endParaRPr lang="en-US" dirty="0"/>
          </a:p>
          <a:p>
            <a:r>
              <a:rPr lang="en-US" b="1" dirty="0"/>
              <a:t>Embeddings</a:t>
            </a:r>
            <a:r>
              <a:rPr lang="en-US" dirty="0"/>
              <a:t> turn text into searchable vectors</a:t>
            </a:r>
          </a:p>
          <a:p>
            <a:r>
              <a:rPr lang="en-US" b="1" dirty="0"/>
              <a:t>Chunking strategy</a:t>
            </a:r>
            <a:r>
              <a:rPr lang="en-US" dirty="0"/>
              <a:t> matters more than you think</a:t>
            </a:r>
          </a:p>
          <a:p>
            <a:r>
              <a:rPr lang="en-US" b="1" dirty="0"/>
              <a:t>Vector indexes</a:t>
            </a:r>
            <a:r>
              <a:rPr lang="en-US" dirty="0"/>
              <a:t> work for 90% of use cases</a:t>
            </a:r>
          </a:p>
          <a:p>
            <a:r>
              <a:rPr lang="en-US" b="1" dirty="0"/>
              <a:t>Strict prompting</a:t>
            </a:r>
            <a:r>
              <a:rPr lang="en-US" dirty="0"/>
              <a:t> prevents hallucinations</a:t>
            </a:r>
          </a:p>
          <a:p>
            <a:r>
              <a:rPr lang="en-US" b="1" dirty="0"/>
              <a:t>Two-layer evaluation</a:t>
            </a:r>
            <a:r>
              <a:rPr lang="en-US" dirty="0"/>
              <a:t> isolates problems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Modern Stack:</a:t>
            </a:r>
            <a:r>
              <a:rPr lang="en-US" dirty="0"/>
              <a:t> LCEL (not deprecated </a:t>
            </a:r>
            <a:r>
              <a:rPr lang="en-US" dirty="0" err="1"/>
              <a:t>RetrievalQA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007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30DA6-C324-72DD-95C3-07D0C7F84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Pitfalls: What NOT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5CE37-5748-86EC-3E48-7216C1311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Bad chunking</a:t>
            </a:r>
            <a:r>
              <a:rPr lang="en-US" dirty="0"/>
              <a:t> → Bad retrieval → Bad answers</a:t>
            </a:r>
            <a:br>
              <a:rPr lang="en-US" dirty="0"/>
            </a:br>
            <a:r>
              <a:rPr lang="en-US" b="1" dirty="0"/>
              <a:t>Temperature &gt; 0.5</a:t>
            </a:r>
            <a:r>
              <a:rPr lang="en-US" dirty="0"/>
              <a:t> → Hallucinations increase</a:t>
            </a:r>
            <a:br>
              <a:rPr lang="en-US" dirty="0"/>
            </a:br>
            <a:r>
              <a:rPr lang="en-US" b="1" dirty="0"/>
              <a:t>No citations</a:t>
            </a:r>
            <a:r>
              <a:rPr lang="en-US" dirty="0"/>
              <a:t> → Can't verify accuracy</a:t>
            </a:r>
            <a:br>
              <a:rPr lang="en-US" dirty="0"/>
            </a:br>
            <a:r>
              <a:rPr lang="en-US" b="1" dirty="0"/>
              <a:t>Only testing manually</a:t>
            </a:r>
            <a:r>
              <a:rPr lang="en-US" dirty="0"/>
              <a:t> → No real metrics</a:t>
            </a:r>
            <a:br>
              <a:rPr lang="en-US" dirty="0"/>
            </a:br>
            <a:r>
              <a:rPr lang="en-US" b="1" dirty="0"/>
              <a:t>Different embedding models</a:t>
            </a:r>
            <a:r>
              <a:rPr lang="en-US" dirty="0"/>
              <a:t> → Incompatible vectors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Remember:</a:t>
            </a:r>
            <a:r>
              <a:rPr lang="en-US" dirty="0"/>
              <a:t> RAG quality = Retrieval Quality × Generation Quality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53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5A841-F61B-F4CD-6707-B002EE95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Use Cases: RAG in 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4F025-4C52-4BE0-B16D-B49228467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Customer Support:</a:t>
            </a:r>
            <a:r>
              <a:rPr lang="en-US" dirty="0"/>
              <a:t> Automated ticket search</a:t>
            </a:r>
            <a:br>
              <a:rPr lang="en-US" dirty="0"/>
            </a:br>
            <a:r>
              <a:rPr lang="en-US" b="1" dirty="0"/>
              <a:t>Legal:</a:t>
            </a:r>
            <a:r>
              <a:rPr lang="en-US" dirty="0"/>
              <a:t> Contract analysis and clause search</a:t>
            </a:r>
            <a:br>
              <a:rPr lang="en-US" dirty="0"/>
            </a:br>
            <a:r>
              <a:rPr lang="en-US" b="1" dirty="0"/>
              <a:t>Healthcare:</a:t>
            </a:r>
            <a:r>
              <a:rPr lang="en-US" dirty="0"/>
              <a:t> Medical literature search</a:t>
            </a:r>
            <a:br>
              <a:rPr lang="en-US" dirty="0"/>
            </a:br>
            <a:r>
              <a:rPr lang="en-US" b="1" dirty="0"/>
              <a:t>Finance:</a:t>
            </a:r>
            <a:r>
              <a:rPr lang="en-US" dirty="0"/>
              <a:t> Regulatory compliance Q&amp;A</a:t>
            </a:r>
            <a:br>
              <a:rPr lang="en-US" dirty="0"/>
            </a:br>
            <a:r>
              <a:rPr lang="en-US" b="1" dirty="0"/>
              <a:t>HR:</a:t>
            </a:r>
            <a:r>
              <a:rPr lang="en-US" dirty="0"/>
              <a:t> Internal policy and benefits assistant</a:t>
            </a:r>
            <a:br>
              <a:rPr lang="en-US" dirty="0"/>
            </a:br>
            <a:r>
              <a:rPr lang="en-US" b="1" dirty="0"/>
              <a:t>Engineering:</a:t>
            </a:r>
            <a:r>
              <a:rPr lang="en-US" dirty="0"/>
              <a:t> Code documentation search</a:t>
            </a:r>
            <a:br>
              <a:rPr lang="en-US" dirty="0"/>
            </a:br>
            <a:r>
              <a:rPr lang="en-US" b="1" dirty="0"/>
              <a:t>Sales:</a:t>
            </a:r>
            <a:r>
              <a:rPr lang="en-US" dirty="0"/>
              <a:t> Product information lookup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Common Pattern:</a:t>
            </a:r>
            <a:r>
              <a:rPr lang="en-US" dirty="0"/>
              <a:t> Large knowledge base + frequent questions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511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AB15-F352-9A38-1B0B-B60FD0C3A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Technologies: The RAG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DB16C-6DD0-4F68-6172-29CF3D905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Frameworks:</a:t>
            </a:r>
            <a:endParaRPr lang="en-US" dirty="0"/>
          </a:p>
          <a:p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LlamaIndex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Vector Databases:</a:t>
            </a:r>
            <a:endParaRPr lang="en-US" dirty="0"/>
          </a:p>
          <a:p>
            <a:r>
              <a:rPr lang="en-US" dirty="0"/>
              <a:t>FAISS, Chroma, Pinecone, </a:t>
            </a:r>
            <a:r>
              <a:rPr lang="en-US" dirty="0" err="1"/>
              <a:t>Weaviate</a:t>
            </a:r>
            <a:r>
              <a:rPr lang="en-US" dirty="0"/>
              <a:t>, </a:t>
            </a:r>
            <a:r>
              <a:rPr lang="en-US" dirty="0" err="1"/>
              <a:t>Qdrant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Embedding Models:</a:t>
            </a:r>
            <a:endParaRPr lang="en-US" dirty="0"/>
          </a:p>
          <a:p>
            <a:r>
              <a:rPr lang="en-US" dirty="0"/>
              <a:t>OpenAI, Cohere, </a:t>
            </a:r>
            <a:r>
              <a:rPr lang="en-US" dirty="0" err="1"/>
              <a:t>HuggingFace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LLMs:</a:t>
            </a:r>
            <a:endParaRPr lang="en-US" dirty="0"/>
          </a:p>
          <a:p>
            <a:r>
              <a:rPr lang="en-US" dirty="0"/>
              <a:t>GPT-4, Claude, Llama, Mistral</a:t>
            </a:r>
          </a:p>
          <a:p>
            <a:pPr marL="0" indent="0">
              <a:buNone/>
            </a:pPr>
            <a:r>
              <a:rPr lang="en-US" b="1" dirty="0"/>
              <a:t>Evaluation:</a:t>
            </a:r>
            <a:endParaRPr lang="en-US" dirty="0"/>
          </a:p>
          <a:p>
            <a:r>
              <a:rPr lang="en-US" dirty="0"/>
              <a:t>RAGAS, </a:t>
            </a:r>
            <a:r>
              <a:rPr lang="en-US" dirty="0" err="1"/>
              <a:t>DeepEval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598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79C-EEF8-C9D9-C438-798947F3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A3EF6-F0D9-435C-7445-57062AD40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"Why not just fine-tune the model?"</a:t>
            </a:r>
            <a:endParaRPr lang="en-US" dirty="0"/>
          </a:p>
          <a:p>
            <a:r>
              <a:rPr lang="en-US" dirty="0"/>
              <a:t>RAG is cheaper, updates instantly, works with any LLM</a:t>
            </a:r>
          </a:p>
          <a:p>
            <a:pPr marL="0" indent="0">
              <a:buNone/>
            </a:pPr>
            <a:r>
              <a:rPr lang="en-US" b="1" dirty="0"/>
              <a:t>"How many documents can RAG handle?"</a:t>
            </a:r>
            <a:endParaRPr lang="en-US" dirty="0"/>
          </a:p>
          <a:p>
            <a:r>
              <a:rPr lang="en-US" dirty="0"/>
              <a:t>Millions with proper vector DB (Pinecone scales to billions)</a:t>
            </a:r>
          </a:p>
          <a:p>
            <a:pPr marL="0" indent="0">
              <a:buNone/>
            </a:pPr>
            <a:r>
              <a:rPr lang="en-US" b="1" dirty="0"/>
              <a:t>"What about privacy?"</a:t>
            </a:r>
            <a:endParaRPr lang="en-US" dirty="0"/>
          </a:p>
          <a:p>
            <a:r>
              <a:rPr lang="en-US" dirty="0"/>
              <a:t>Use local LLMs (</a:t>
            </a:r>
            <a:r>
              <a:rPr lang="en-US" dirty="0" err="1"/>
              <a:t>Ollama</a:t>
            </a:r>
            <a:r>
              <a:rPr lang="en-US" dirty="0"/>
              <a:t>) + FAISS for fully offline RAG</a:t>
            </a:r>
          </a:p>
          <a:p>
            <a:pPr marL="0" indent="0">
              <a:buNone/>
            </a:pPr>
            <a:r>
              <a:rPr lang="en-US" b="1" dirty="0"/>
              <a:t>"How accurate is RAG vs humans?"</a:t>
            </a:r>
            <a:endParaRPr lang="en-US" dirty="0"/>
          </a:p>
          <a:p>
            <a:r>
              <a:rPr lang="en-US" dirty="0"/>
              <a:t>80-90% for factual Q&amp;A, better consistency than humans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587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C4BA5-D6ED-9288-24F1-8CBE1EB5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You're Ready to Build RAG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126BB-2D03-75AE-D467-295172770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 You Can Do Now:</a:t>
            </a:r>
            <a:endParaRPr lang="en-US" dirty="0"/>
          </a:p>
          <a:p>
            <a:r>
              <a:rPr lang="en-US" dirty="0"/>
              <a:t>Build semantic search over any document collection</a:t>
            </a:r>
          </a:p>
          <a:p>
            <a:r>
              <a:rPr lang="en-US" dirty="0"/>
              <a:t>Generate grounded answers with citations</a:t>
            </a:r>
          </a:p>
          <a:p>
            <a:r>
              <a:rPr lang="en-US" dirty="0"/>
              <a:t>Evaluate and optimize RAG quality</a:t>
            </a:r>
          </a:p>
          <a:p>
            <a:r>
              <a:rPr lang="en-US" dirty="0"/>
              <a:t>Deploy production-ready systems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Class Materials:</a:t>
            </a:r>
            <a:endParaRPr lang="en-US" dirty="0"/>
          </a:p>
          <a:p>
            <a:r>
              <a:rPr lang="en-US" dirty="0"/>
              <a:t>GitHub: https://github.com/jeev1992/SupportDesk-RAG-Workshop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76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1452</Words>
  <Application>Microsoft Office PowerPoint</Application>
  <PresentationFormat>Widescreen</PresentationFormat>
  <Paragraphs>239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Building Production-Ready RAG Systems</vt:lpstr>
      <vt:lpstr>Why LLMs Alone Aren't Enough</vt:lpstr>
      <vt:lpstr>Retrieval-Augmented Generation</vt:lpstr>
      <vt:lpstr>How RAG Works (3 Steps)</vt:lpstr>
      <vt:lpstr>What We're Building Today: SupportDesk RAG Assistant</vt:lpstr>
      <vt:lpstr>Class Structure: 5 Modules in 4 Hours</vt:lpstr>
      <vt:lpstr>Module 1 – Embeddings: Understanding Text Embeddings</vt:lpstr>
      <vt:lpstr>Module 1 – Demo: Embeddings in Action</vt:lpstr>
      <vt:lpstr>Module 2 – Chunking: Breaking Down Long Documents</vt:lpstr>
      <vt:lpstr>Module 2 - Vector Stores: Storing and Searching Embeddings</vt:lpstr>
      <vt:lpstr>Module 3 - Indexing Strategies: 5 Ways to Organize Your Data</vt:lpstr>
      <vt:lpstr>Module 3 - Choosing the Right Index</vt:lpstr>
      <vt:lpstr>Module 4 - RAG Pipeline: Building the Complete System</vt:lpstr>
      <vt:lpstr>Module 4 - Preventing Hallucinations</vt:lpstr>
      <vt:lpstr>Module 4 - RAG Pipeline Code</vt:lpstr>
      <vt:lpstr>Module 5 - Why Evaluation Matters</vt:lpstr>
      <vt:lpstr>Module 5 - Two-Layer Evaluation: Evaluate Retrieval AND Generation</vt:lpstr>
      <vt:lpstr>Module 5 - Target Metrics: Production-Ready Benchmarks</vt:lpstr>
      <vt:lpstr>What You Learned Today</vt:lpstr>
      <vt:lpstr>Common Pitfalls: What NOT to Do</vt:lpstr>
      <vt:lpstr>Real-World Use Cases: RAG in Production</vt:lpstr>
      <vt:lpstr>Tools &amp; Technologies: The RAG Stack</vt:lpstr>
      <vt:lpstr>Common Questions</vt:lpstr>
      <vt:lpstr>You're Ready to Build RAG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Jeevendra Singh</dc:creator>
  <cp:lastModifiedBy>Jeevendra Singh</cp:lastModifiedBy>
  <cp:revision>2</cp:revision>
  <dcterms:created xsi:type="dcterms:W3CDTF">2026-01-09T08:11:23Z</dcterms:created>
  <dcterms:modified xsi:type="dcterms:W3CDTF">2026-01-09T08:54:05Z</dcterms:modified>
</cp:coreProperties>
</file>